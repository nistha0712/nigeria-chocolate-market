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A5A75-7446-DE51-3BF3-3F19B90CB9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233C31-DE6C-9C0B-3427-B538CEE2E7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C2A8EF-8426-7C62-6FFE-53FF0227D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DD70E-4294-441E-A5A0-8538B5B435DA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F1B240-FB99-5F1B-B9F9-09B802666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05C6E3-8841-A18B-662F-7E4C15965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30376-91C2-44AF-85B8-561466E298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7530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C9764-DF9B-696B-CA5C-1C6686C7F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7B585-2F92-20E5-A315-852FD2603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D406CA-B552-9322-15F0-180B89C98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DD70E-4294-441E-A5A0-8538B5B435DA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58D9C-B8CD-4B6D-361D-853E6B859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BCF401-C963-B240-8100-8DE69DA5C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30376-91C2-44AF-85B8-561466E298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9083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67C3F-0C0F-E6E5-5214-69E20CF6C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2FDEB2-2441-7F04-50F3-37994D8EBD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09FD9-9C96-1110-5163-B554FC2EF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DD70E-4294-441E-A5A0-8538B5B435DA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40CF3A-037E-0450-0EF5-DCB459D59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0EB41-BE77-D6CF-809F-523CE2AAF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30376-91C2-44AF-85B8-561466E298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8148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70633-E1B2-AD12-C7F6-AEA38E21C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9D443-0832-33E1-4320-E7B82A9437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27D90A-1302-E97E-3EBF-D3081EFB4D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D4A422-392B-D40D-A2D0-4B0E34E27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DD70E-4294-441E-A5A0-8538B5B435DA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386F7B-6FF9-15B8-FCFF-411A3A506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D13A10-2540-B093-9A80-B08D6F70F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30376-91C2-44AF-85B8-561466E298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5752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B0B5B-73EB-3E9A-39F1-24B67FD9B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984883-F1B6-699A-F5E6-4DDC6CDFC2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D66E84-E97F-5635-0E90-BCA8C96842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959215-AD3C-32D9-4B60-1457F464C5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35A2DD-037B-AB18-8063-E226410226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A7BE0F-66CE-B3F8-C020-29FE14568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DD70E-4294-441E-A5A0-8538B5B435DA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3A49B2-90AA-89AD-85DB-95BB68368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9FE7E8-E1B2-D97E-9551-113AF3D1C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30376-91C2-44AF-85B8-561466E298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3761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58891-A5F6-11CF-4763-DA1E25DB9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EDD0E-BBB3-059C-48AA-3F39A128E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DD70E-4294-441E-A5A0-8538B5B435DA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E0D7AF-12AE-499F-3F65-1A5E28D6F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E83401-63CA-0F7E-EE40-362E433DC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30376-91C2-44AF-85B8-561466E298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8527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38D262-4218-E085-A552-A924B937F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DD70E-4294-441E-A5A0-8538B5B435DA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658F49-FB05-937A-1D8C-FED84C370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A72682-5EEB-435B-B7A0-745ABD3FD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30376-91C2-44AF-85B8-561466E298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8751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572A9-4BCD-A1B7-065E-97CFD6FEE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D4A07-7D74-7EC7-EA84-48C75978D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632886-FEF7-C71D-015B-756A31AE0F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D086E9-1334-6559-BFD4-CB294E27B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DD70E-4294-441E-A5A0-8538B5B435DA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DCE843-A1EF-4817-0A28-8A4CFAA26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09DBB0-0E0F-8110-9291-61D9B4089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30376-91C2-44AF-85B8-561466E298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0035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9A9CC-B15D-F711-1994-845E29BE0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A6F9A5-6933-E48E-E1D8-370686FF72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ABB7AF-4F3F-418F-66EF-A567AF9640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5A0FFF-F2A5-E483-A730-A9EB38A7A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DD70E-4294-441E-A5A0-8538B5B435DA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36FAF2-3CAF-1B5D-ED39-2CFF5DCDC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254741-2E86-7674-2CD5-4977E264D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30376-91C2-44AF-85B8-561466E298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5444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C5128-3AB2-C60B-DAAD-E46778AE7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CC3305-BF39-4FBB-A850-63BA5A6A7A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3F5234-4DD3-7C64-3664-9CF2D08AC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DD70E-4294-441E-A5A0-8538B5B435DA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BA5306-60BC-4552-2BDE-4923AFF08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7046DA-1E88-B8BC-738A-6A4D41A4C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30376-91C2-44AF-85B8-561466E298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5583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84B022-6719-958A-F154-31389EA4F4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CA0F27-9774-EF73-A777-01874F5EAD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530059-009E-9608-CD83-D54E5F3AB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DD70E-4294-441E-A5A0-8538B5B435DA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BFF1C8-4DFC-6F36-7247-990C9949E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A1B9D-8BE9-CB07-AC28-2F92BBE2C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30376-91C2-44AF-85B8-561466E298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1657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84DC42-E266-FC54-FAC6-2157F7273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51DAE3-CE89-5D3E-66BE-98495B9251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5DC4D-C2E8-52C2-4918-65F4D4666C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2DD70E-4294-441E-A5A0-8538B5B435DA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F045E-8BE9-FA0B-4B24-58F15E2A0F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EE6B80-2049-3D5C-DEF7-B59435C6FB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830376-91C2-44AF-85B8-561466E298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0085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330C4-37E6-3D6C-69CF-E689F5640D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349" y="272998"/>
            <a:ext cx="9144000" cy="1327202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Executive Summary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95FF85-9A93-0F5B-C15C-8B83925073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6349" y="2687637"/>
            <a:ext cx="9144000" cy="2523459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Business Question:</a:t>
            </a: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Enter Nigeria’s chocolate market?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Recommendation:</a:t>
            </a: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 with caution</a:t>
            </a:r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urban hubs, mass-market pricing, local sourcing.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Drivers: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🌆 Urbanization &amp; middle class growth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🌱 Domestic cocoa production advantage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💰 Price sensitivity → affordable packs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4560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0BDBF-F5BE-C2EA-FC54-970EF29E8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 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90400-DAB8-2153-12BA-80AAA731D6E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Market Characteristics: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🍪 Competition from biscuits &amp; sweet snacks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🏪 Modern trade growing, traditional trade dominant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🌍 Imported premium brands in urban </a:t>
            </a:r>
            <a:r>
              <a:rPr lang="en-IN" sz="24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centers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FA0465-9EB1-F7B6-9134-89571D44D35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Consumer Segments: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👩‍💼 Urban middle class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🎧 Youth/Gen Z snackers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👨‍👩‍👧 Families with children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💎 Premium affluent consumers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3724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6B5B7-82B3-CC14-F354-9810CB99D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Attractiveness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4A20C-1D9D-ED01-3304-17EDD81393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2480904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Strengths: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👥 Large population (&gt;220M)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🛍️ Rising retail penetration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🌱 Cocoa-producing country → local sourcing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3DD6AC-894C-65D2-4464-9EAB211BCB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2628388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Constraints: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📉 Inflation &amp; income pressure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🚚 Distribution complexity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☀️ Climate/storage challenges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F5D3850-BABA-AACF-D3AD-7A450FA763B8}"/>
              </a:ext>
            </a:extLst>
          </p:cNvPr>
          <p:cNvSpPr txBox="1">
            <a:spLocks/>
          </p:cNvSpPr>
          <p:nvPr/>
        </p:nvSpPr>
        <p:spPr>
          <a:xfrm>
            <a:off x="1236406" y="435213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           </a:t>
            </a:r>
            <a:r>
              <a:rPr lang="en-IN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 Attractiveness:</a:t>
            </a:r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(with affordability risks)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2111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6F646-2D47-BE60-9517-FB2846CF3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CBD70-54D8-3864-0C0E-6C28A0973E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2539898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Purchase Drivers: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🍫 Taste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💵 Affordable price points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🏠 Availability near home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✅ Brand trust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D3DE36-720A-5916-6238-71BA817531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2136775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Barriers: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💰 Price sensitivity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☀️ Heat affecting quality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🍪 Preference for alternative snacks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3853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D02F2-D64F-EE52-E05E-20B99A984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Go-To-Market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1FD0F-86C9-CA2F-88D8-5948CA8AF3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452601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Portfolio: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Entry SKUs at impulse price points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Mid-tier family packs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premium urban offering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Channels: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trade (priority)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Convenience stores, modern trade, e-commerce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BD74AC-97C0-8D29-369E-0185A9BABE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0858" y="1825624"/>
            <a:ext cx="5181600" cy="439107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Marketing: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🎯 Youth-focused digital campaigns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👨‍👩‍👧 Family/school occasions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🌱 “Made with Nigerian cocoa” positioning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KPIs (3-Year Targets):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+5–10 penetration points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National traditional trade coverage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Positive repeat-purchase trajectory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307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B4D2F-6319-5444-2FC1-2743C80A50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1080063"/>
          </a:xfrm>
        </p:spPr>
        <p:txBody>
          <a:bodyPr>
            <a:normAutofit/>
          </a:bodyPr>
          <a:lstStyle/>
          <a:p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 Profile &amp; Next Steps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3B758F-AB18-1A54-9CD4-EF1F81DF41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4904" y="1488101"/>
            <a:ext cx="9989574" cy="2602117"/>
          </a:xfrm>
        </p:spPr>
        <p:txBody>
          <a:bodyPr>
            <a:normAutofit fontScale="70000" lnSpcReduction="20000"/>
          </a:bodyPr>
          <a:lstStyle/>
          <a:p>
            <a:r>
              <a:rPr lang="en-IN" sz="25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 am Nistha Kumari, a Senior Data Analyst with 3.2+ years of experience in FMCG and retail analytics.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5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My background includes building SQL-based ETL pipelines, Power BI dashboards, and predictive models for global brands.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5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I’ve built end-to-end market assessment frameworks, including the Nigeria Chocolate Market Opportunity Analysis, integrating WDI and FAOSTAT datasets.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5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 enjoy solving complex business problems by transforming raw data into actionable insights that drive growth and efficiency.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5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 am proud of leading high-stakes transitions with 100% accuracy, and I’m seeking opportunities in advanced analytics, forecasting, and consumer insights.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1ADFB-C3A9-5357-8F09-932AAF421BBE}"/>
              </a:ext>
            </a:extLst>
          </p:cNvPr>
          <p:cNvSpPr txBox="1">
            <a:spLocks/>
          </p:cNvSpPr>
          <p:nvPr/>
        </p:nvSpPr>
        <p:spPr>
          <a:xfrm>
            <a:off x="1101213" y="4068840"/>
            <a:ext cx="9989574" cy="26021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I Had Another Week –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an extra week, I would enrich the model using retail audit and consumer panel data, build state-level penetration forecasts, and design a Power BI dashboard with executive drill-down capabilities. I would also validate assumptions through consumer and channel interviews to strengthen the robustness of the market entry strategy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646085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412</Words>
  <Application>Microsoft Office PowerPoint</Application>
  <PresentationFormat>Widescreen</PresentationFormat>
  <Paragraphs>62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Executive Summary</vt:lpstr>
      <vt:lpstr>                           Market Overview</vt:lpstr>
      <vt:lpstr>                 Market Attractiveness</vt:lpstr>
      <vt:lpstr>                        Consumer Insights</vt:lpstr>
      <vt:lpstr>                 Go-To-Market Strategy</vt:lpstr>
      <vt:lpstr>Personal Profile &amp; 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nisu0712.nk@gmail.com</dc:creator>
  <cp:lastModifiedBy>nisu0712.nk@gmail.com</cp:lastModifiedBy>
  <cp:revision>1</cp:revision>
  <dcterms:created xsi:type="dcterms:W3CDTF">2026-07-21T02:35:07Z</dcterms:created>
  <dcterms:modified xsi:type="dcterms:W3CDTF">2026-07-21T02:52:32Z</dcterms:modified>
</cp:coreProperties>
</file>